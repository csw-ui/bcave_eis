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645920"/>
            <a:ext cx="914400" cy="36576"/>
          </a:xfrm>
          <a:prstGeom prst="rect">
            <a:avLst/>
          </a:prstGeom>
          <a:solidFill>
            <a:srgbClr val="FF3CA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1645920"/>
            <a:ext cx="9144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와키윌리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FPOF 사용 매뉴얼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비개발자를 위한 완벽 가이드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0066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261872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15000"/>
            </a:srgbClr>
          </a:solidFill>
          <a:ln w="635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8686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384048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1장 — 시작하기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소개, 로그인, 첫 화면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840480" cy="8686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17320"/>
            <a:ext cx="384048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2장 — 기본 사용법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요청, 상태 확인, 산출물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3840480" cy="8686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514600"/>
            <a:ext cx="384048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3장 — PDCA 단계별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→ Design → Do → Check → 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514600"/>
            <a:ext cx="3840480" cy="8686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514600"/>
            <a:ext cx="384048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4장 — 슬래시 명령어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상태, 산출물, 품질 명령어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3840480" cy="8686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11880"/>
            <a:ext cx="3840480" cy="27432"/>
          </a:xfrm>
          <a:prstGeom prst="rect">
            <a:avLst/>
          </a:prstGeom>
          <a:solidFill>
            <a:srgbClr val="FF3CA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3C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5장 — 실전 시나리오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시즌 기획, 히트상품, 실패 분석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611880"/>
            <a:ext cx="3840480" cy="8686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611880"/>
            <a:ext cx="3840480" cy="27432"/>
          </a:xfrm>
          <a:prstGeom prst="rect">
            <a:avLst/>
          </a:prstGeom>
          <a:solidFill>
            <a:srgbClr val="A0A0C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6장 — FAQ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묻는 질문, 문제 해결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362456" cy="292608"/>
          </a:xfrm>
          <a:prstGeom prst="roundRect">
            <a:avLst>
              <a:gd name="adj" fmla="val 31250"/>
            </a:avLst>
          </a:prstGeom>
          <a:solidFill>
            <a:srgbClr val="0066FF">
              <a:alpha val="15000"/>
            </a:srgbClr>
          </a:solidFill>
          <a:ln w="6350">
            <a:solidFill>
              <a:srgbClr val="0066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1장 — 시작하기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FPOF란?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280160"/>
            <a:ext cx="457200" cy="36576"/>
          </a:xfrm>
          <a:prstGeom prst="rect">
            <a:avLst/>
          </a:prstGeom>
          <a:solidFill>
            <a:srgbClr val="FF3CAC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1280160"/>
            <a:ext cx="4572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Fashion PDCA Orchestration Framework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13716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36576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2316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당신이 </a:t>
            </a:r>
            <a:pPr indent="0" marL="0">
              <a:buNone/>
            </a:pPr>
            <a:r>
              <a:rPr lang="en-US" sz="14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"무드보드 만들어줘"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라고 말하면,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알아서 크리에이티브 디렉터를 불러와서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무드보드를 만들어 주는 시스템입니다.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62456" cy="292608"/>
          </a:xfrm>
          <a:prstGeom prst="roundRect">
            <a:avLst>
              <a:gd name="adj" fmla="val 31250"/>
            </a:avLst>
          </a:prstGeom>
          <a:solidFill>
            <a:srgbClr val="0066FF">
              <a:alpha val="15000"/>
            </a:srgbClr>
          </a:solidFill>
          <a:ln w="6350">
            <a:solidFill>
              <a:srgbClr val="0066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1장 — 시작하기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3가지 핵심 기능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260604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자연어 커뮤니케이션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명령어 없이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평소 말하듯 요청하면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이해하고 실행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463040"/>
            <a:ext cx="26060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전문가 배정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20명의 AI 전문가 대기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내용에 따라 자동으로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적합한 전문가 배정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60604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브랜드 보이스 보장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와키윌리 DNA, 톤앤매너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세팅. 모든 결과물이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브랜드에 맞음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0066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362456" cy="292608"/>
          </a:xfrm>
          <a:prstGeom prst="roundRect">
            <a:avLst>
              <a:gd name="adj" fmla="val 31250"/>
            </a:avLst>
          </a:prstGeom>
          <a:solidFill>
            <a:srgbClr val="0066FF">
              <a:alpha val="15000"/>
            </a:srgbClr>
          </a:solidFill>
          <a:ln w="6350">
            <a:solidFill>
              <a:srgbClr val="0066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1장 — 시작하기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로그인 &amp; 첫 화면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84048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384048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시작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3474720" cy="914400"/>
          </a:xfrm>
          <a:prstGeom prst="rect">
            <a:avLst/>
          </a:prstGeom>
          <a:solidFill>
            <a:srgbClr val="000000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103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프로젝트 폴더로 이동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"FPOF V2.2 Claude"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 Code 시작</a:t>
            </a: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84048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384048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첫 화면 응답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011680"/>
            <a:ext cx="3474720" cy="1645920"/>
          </a:xfrm>
          <a:prstGeom prst="rect">
            <a:avLst/>
          </a:prstGeom>
          <a:solidFill>
            <a:srgbClr val="000000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2148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현재 시즌: 26SS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현재 단계: 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산출물 위치: output/26SS/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"지금 어디까지 진행됐어?"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563624" cy="292608"/>
          </a:xfrm>
          <a:prstGeom prst="roundRect">
            <a:avLst>
              <a:gd name="adj" fmla="val 31250"/>
            </a:avLst>
          </a:prstGeom>
          <a:solidFill>
            <a:srgbClr val="FF6B35">
              <a:alpha val="15000"/>
            </a:srgbClr>
          </a:solidFill>
          <a:ln w="635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2장 — 기본 사용법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자연어로 말하는 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15544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36576" cy="155448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잘하는 방법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"그래픽 티 무드보드 만들어줘"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"오버핏 후디 디자인 스펙 작성해줘"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"이번 시즌 트렌드 분석해줘"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840480" cy="15544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36576" cy="1554480"/>
          </a:xfrm>
          <a:prstGeom prst="rect">
            <a:avLst/>
          </a:prstGeom>
          <a:solidFill>
            <a:srgbClr val="FF3C50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C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피해야 할 방법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"알아서 해" → 너무 모호함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"그거 만들어" → 무엇인지 모름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"뭐 할까?" → 스스로 결정 안 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8046720" cy="82296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46120"/>
            <a:ext cx="36576" cy="82296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37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구체적으로 말할수록 좋습니다 — "키키 캐릭터를 활용한 유니섹스 그래픽 티셔츠 디자인해줘. 타겟은 18~22세, 스트리트 감성으로"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563624" cy="292608"/>
          </a:xfrm>
          <a:prstGeom prst="roundRect">
            <a:avLst>
              <a:gd name="adj" fmla="val 31250"/>
            </a:avLst>
          </a:prstGeom>
          <a:solidFill>
            <a:srgbClr val="FF6B35">
              <a:alpha val="15000"/>
            </a:srgbClr>
          </a:solidFill>
          <a:ln w="635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2장 — 기본 사용법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전문가 지명 &amp; 참조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23774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84048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특정 전문가 지명하기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"패션 에디터한테 PDP 카피 맡길게"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"마케팅 디렉터가 GTM 계획 세워줘"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"시장 리서처한테 경쟁사 분석 시켜줘"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840480" cy="23774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384048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이전 산출물 참조하기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"아까 만든 무드보드 기반으로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디자인 스펙 작성해줘"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"트렌드 브리프에서 뽑은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키워드로 시즌 테마 잡아줘"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0066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563624" cy="292608"/>
          </a:xfrm>
          <a:prstGeom prst="roundRect">
            <a:avLst>
              <a:gd name="adj" fmla="val 31250"/>
            </a:avLst>
          </a:prstGeom>
          <a:solidFill>
            <a:srgbClr val="FF6B35">
              <a:alpha val="15000"/>
            </a:srgbClr>
          </a:solidFill>
          <a:ln w="635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2장 — 기본 사용법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상태 확인 &amp; 산출물 요청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384048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상태 확인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3474720" cy="640080"/>
          </a:xfrm>
          <a:prstGeom prst="rect">
            <a:avLst/>
          </a:prstGeom>
          <a:solidFill>
            <a:srgbClr val="000000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"지금 어디까지 진행됐어?"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또는  /status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시즌, PDCA 단계, 진행률,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완료/진행중 산출물 확인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84048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17320"/>
            <a:ext cx="384048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산출물 요청 패턴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965960"/>
            <a:ext cx="3474720" cy="1645920"/>
          </a:xfrm>
          <a:prstGeom prst="rect">
            <a:avLst/>
          </a:prstGeom>
          <a:solidFill>
            <a:srgbClr val="000000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2057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[산출물 유형] [대상] 만들어줘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"무드보드 그래픽 티 만들어줘"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"디자인 스펙 오버핏 후디 작성해줘"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"테크팩 룩북 상품 만들어줘"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67128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15000"/>
            </a:srgbClr>
          </a:solidFill>
          <a:ln w="635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3장 — PDCA 단계별 사용법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PDCA 사이클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0066FF">
              <a:alpha val="20000"/>
            </a:srgbClr>
          </a:solidFill>
          <a:ln w="6350">
            <a:solidFill>
              <a:srgbClr val="0066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080"/>
                </a:solidFill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463040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463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1463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080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463040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FF6B35">
              <a:alpha val="20000"/>
            </a:srgbClr>
          </a:solidFill>
          <a:ln w="635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463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463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080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0" y="1463040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00E5CC">
              <a:alpha val="20000"/>
            </a:srgbClr>
          </a:solidFill>
          <a:ln w="6350">
            <a:solidFill>
              <a:srgbClr val="00E5C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463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1463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080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463040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FF3CAC">
              <a:alpha val="20000"/>
            </a:srgbClr>
          </a:solidFill>
          <a:ln w="6350">
            <a:solidFill>
              <a:srgbClr val="FF3CAC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463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C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103120"/>
            <a:ext cx="2606040" cy="10058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103120"/>
            <a:ext cx="260604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— 시즌 기획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전략기획실: 트렌드→테마→MD→라인시트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2103120"/>
            <a:ext cx="2606040" cy="10058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2103120"/>
            <a:ext cx="26060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— 크리에이티브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크리에이티브 스튜디오 + 프로덕트 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2103120"/>
            <a:ext cx="2606040" cy="10058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103120"/>
            <a:ext cx="260604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— 상품화 &amp; 런칭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프로덕트 랩 + 마케팅 쇼룸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0" y="3337560"/>
            <a:ext cx="2606040" cy="10058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0" y="3337560"/>
            <a:ext cx="260604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3" name="Text 31"/>
          <p:cNvSpPr/>
          <p:nvPr/>
        </p:nvSpPr>
        <p:spPr>
          <a:xfrm>
            <a:off x="196596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— 성과 분석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65960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인텔리전스 + QC 본부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337560"/>
            <a:ext cx="2606040" cy="10058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37560"/>
            <a:ext cx="2606040" cy="27432"/>
          </a:xfrm>
          <a:prstGeom prst="rect">
            <a:avLst/>
          </a:prstGeom>
          <a:solidFill>
            <a:srgbClr val="FF3CAC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C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 — 개선 반복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본부 PDCA 이터레이터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0066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859536" cy="292608"/>
          </a:xfrm>
          <a:prstGeom prst="roundRect">
            <a:avLst>
              <a:gd name="adj" fmla="val 31250"/>
            </a:avLst>
          </a:prstGeom>
          <a:solidFill>
            <a:srgbClr val="0066FF">
              <a:alpha val="15000"/>
            </a:srgbClr>
          </a:solidFill>
          <a:ln w="6350">
            <a:solidFill>
              <a:srgbClr val="0066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전략기획실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단계: 시즌 기획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트렌드 분석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691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"26SS 트렌드 분석해줘" → Macro/Micro 트렌드, 경쟁사 동향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시즌 테마 수립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377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"26SS 시즌 테마 제안해줘" → 비주얼 톤, 경영목표 연결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MD 전략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063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"카테고리 믹스랑 챔피언 상품 전략 짜줘" → 가격대, SKU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라인시트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749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"라인시트 만들어줘" → SKU 목록, OTB, 사이즈/컬러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검수 &amp; 전환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434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"Plan 단계 검수해줘" → QG1 PASS → Design 단계로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59536" cy="292608"/>
          </a:xfrm>
          <a:prstGeom prst="roundRect">
            <a:avLst>
              <a:gd name="adj" fmla="val 31250"/>
            </a:avLst>
          </a:prstGeom>
          <a:solidFill>
            <a:srgbClr val="0066FF">
              <a:alpha val="15000"/>
            </a:srgbClr>
          </a:solidFill>
          <a:ln w="6350">
            <a:solidFill>
              <a:srgbClr val="0066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80160" y="347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트렌드 분석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응답 예시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30175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36576" cy="30175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[AI: 시장 리서처가 작업을 시작합니다...]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Macro Trend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Y2K Renaissance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Genderless Fashion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Nomad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Micro Trend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Cottagecore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Barbiecore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Y2K Haul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경쟁사 분석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A: Y2K +20%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B: Genderless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C: 디지털 노마드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output/26SS/season-strategy/plan_trend-brief.md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859536" cy="292608"/>
          </a:xfrm>
          <a:prstGeom prst="roundRect">
            <a:avLst>
              <a:gd name="adj" fmla="val 31250"/>
            </a:avLst>
          </a:prstGeom>
          <a:solidFill>
            <a:srgbClr val="0066FF">
              <a:alpha val="15000"/>
            </a:srgbClr>
          </a:solidFill>
          <a:ln w="6350">
            <a:solidFill>
              <a:srgbClr val="0066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347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MD 전략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카테고리 믹스 &amp; 챔피언 상품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84048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384048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카테고리 믹스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2286000" cy="731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148840"/>
            <a:ext cx="1143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유니섹스 50%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2286000" cy="731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606040"/>
            <a:ext cx="6858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우먼스 30%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2286000" cy="731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063240"/>
            <a:ext cx="4572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용품 20%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384048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17320"/>
            <a:ext cx="384048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챔피언 상품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011680"/>
            <a:ext cx="3474720" cy="32004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키키 그래픽 티 (Carry-over)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468880"/>
            <a:ext cx="3474720" cy="32004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468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오버핏 후디 (Carry-over)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926080"/>
            <a:ext cx="3474720" cy="32004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926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크로스백 (New)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 39K~79K / Premium: 89K~159K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60704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15000"/>
            </a:srgbClr>
          </a:solidFill>
          <a:ln w="635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737360" y="347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크리에이티브 스튜디오 + 프로덕트 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단계: 크리에이티브 개발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920240" cy="21031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63040"/>
            <a:ext cx="19202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무드보드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비주얼 톤,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팔레트,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레퍼런스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1463040"/>
            <a:ext cx="1920240" cy="21031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463040"/>
            <a:ext cx="192024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8346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디자인 스펙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실루엣, 소재,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그래픽, 사이즈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1920240" cy="21031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463040"/>
            <a:ext cx="192024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8348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비주얼 생성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플랫/디테일/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스타일링 이미지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95160" y="1463040"/>
            <a:ext cx="1920240" cy="21031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95160" y="1463040"/>
            <a:ext cx="192024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13232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원가 검증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산출,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제안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60704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15000"/>
            </a:srgbClr>
          </a:solidFill>
          <a:ln w="635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737360" y="347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무드보드 &amp; 원가 검증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응답 예시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27432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36576" cy="2743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무드보드: 키키 그래픽 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비주얼 톤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 Grunge · Y2K Aesthetic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🌈 컬러 팔레트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2834640"/>
            <a:ext cx="228600" cy="228600"/>
          </a:xfrm>
          <a:prstGeom prst="rect">
            <a:avLst/>
          </a:prstGeom>
          <a:solidFill>
            <a:srgbClr val="FF6B35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834640"/>
            <a:ext cx="228600" cy="228600"/>
          </a:xfrm>
          <a:prstGeom prst="rect">
            <a:avLst/>
          </a:prstGeom>
          <a:solidFill>
            <a:srgbClr val="0066FF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2834640"/>
            <a:ext cx="228600" cy="228600"/>
          </a:xfrm>
          <a:prstGeom prst="rect">
            <a:avLst/>
          </a:prstGeom>
          <a:solidFill>
            <a:srgbClr val="000000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71600"/>
            <a:ext cx="3840480" cy="27432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71600"/>
            <a:ext cx="36576" cy="274320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원가 계산 결과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2194560"/>
            <a:ext cx="338328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원단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228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8,500원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83480" y="2514600"/>
            <a:ext cx="338328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프린트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22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83480" y="2834640"/>
            <a:ext cx="338328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부자재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1228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2,000원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83480" y="3154680"/>
            <a:ext cx="338328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봉제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4,000원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83480" y="3337560"/>
            <a:ext cx="3383280" cy="18288"/>
          </a:xfrm>
          <a:prstGeom prst="rect">
            <a:avLst/>
          </a:prstGeom>
          <a:solidFill>
            <a:srgbClr val="00E5CC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총 원가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17,500원 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658368" cy="292608"/>
          </a:xfrm>
          <a:prstGeom prst="roundRect">
            <a:avLst>
              <a:gd name="adj" fmla="val 31250"/>
            </a:avLst>
          </a:prstGeom>
          <a:solidFill>
            <a:srgbClr val="FF6B35">
              <a:alpha val="15000"/>
            </a:srgbClr>
          </a:solidFill>
          <a:ln w="635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프로덕트 랩 + 마케팅 쇼룸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단계: 상품화 &amp; 런칭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606040" cy="14630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260604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테크팩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디자인/소재/패턴/봉제 스펙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606040" cy="14630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417320"/>
            <a:ext cx="26060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IMC 전략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캠페인 타임라인, 채널 믹스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2606040" cy="14630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417320"/>
            <a:ext cx="260604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카피라이팅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헤드라인, 상품 설명, 특징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0" y="3108960"/>
            <a:ext cx="2606040" cy="12344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0" y="3108960"/>
            <a:ext cx="260604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011680" y="35204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콘텐츠 기획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촬영 콘셉트, 모델, 샷 리스트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3108960"/>
            <a:ext cx="2606040" cy="12344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3108960"/>
            <a:ext cx="2606040" cy="27432"/>
          </a:xfrm>
          <a:prstGeom prst="rect">
            <a:avLst/>
          </a:prstGeom>
          <a:solidFill>
            <a:srgbClr val="FF3CAC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120640" y="35204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C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소셜 전략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인플루언서 타겟팅, 협업, 예산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658368" cy="292608"/>
          </a:xfrm>
          <a:prstGeom prst="roundRect">
            <a:avLst>
              <a:gd name="adj" fmla="val 31250"/>
            </a:avLst>
          </a:prstGeom>
          <a:solidFill>
            <a:srgbClr val="FF6B35">
              <a:alpha val="15000"/>
            </a:srgbClr>
          </a:solidFill>
          <a:ln w="635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IMC 전략 예시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캠페인 타임라인 &amp; 채널 믹스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84048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384048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캠페인 타임라인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59152"/>
            <a:ext cx="34747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W1-2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Teasing (유튜브 쇼츠)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816352"/>
            <a:ext cx="34747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W3-4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Launch (인스타+틱톡)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73552"/>
            <a:ext cx="34747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26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W5-8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 (유튜브 롱폼)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384048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17320"/>
            <a:ext cx="384048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채널 믹스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148840"/>
            <a:ext cx="2286000" cy="731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2148840"/>
            <a:ext cx="9144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40%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2651760"/>
            <a:ext cx="2286000" cy="731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2651760"/>
            <a:ext cx="6858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30%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3154680"/>
            <a:ext cx="2286000" cy="731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937760" y="3154680"/>
            <a:ext cx="685800" cy="7315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30%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총 예산: 5억원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00E5C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00E5CC">
              <a:alpha val="15000"/>
            </a:srgbClr>
          </a:solidFill>
          <a:ln w="6350">
            <a:solidFill>
              <a:srgbClr val="00E5CC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54480" y="347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인텔리전스 + QC 본부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단계: 성과 분석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606040" cy="16459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260604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매출 분석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채널별/카테고리별 매출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상품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606040" cy="16459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417320"/>
            <a:ext cx="26060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인사이트 도출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성공/실패 요인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2606040" cy="16459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417320"/>
            <a:ext cx="260604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갭 분석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vs 실적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Rate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291840"/>
            <a:ext cx="36576" cy="73152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383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Rate</a:t>
            </a:r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기획 대비 실행 정합도.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이상</a:t>
            </a:r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이면 시즌 완료, 미달 시 → Act 단계에서 자동 개선 루프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00E5CC">
              <a:alpha val="15000"/>
            </a:srgbClr>
          </a:solidFill>
          <a:ln w="6350">
            <a:solidFill>
              <a:srgbClr val="00E5CC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54480" y="347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분석 예시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26SS 매출 분석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384048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총 매출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8.5억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대비 85% 달성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633472"/>
            <a:ext cx="34747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스토어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999232"/>
            <a:ext cx="34747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오프라인 매장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364992"/>
            <a:ext cx="34747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3840480" cy="256032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417320"/>
            <a:ext cx="384048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TOP 상품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359152"/>
            <a:ext cx="34747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키키 그래픽 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1.5억 (18%)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2816352"/>
            <a:ext cx="34747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468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오버핏 후디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1.2억 (14%)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37760" y="3273552"/>
            <a:ext cx="34747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926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크로스백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0.8억 (9%)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FF3CA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758952" cy="292608"/>
          </a:xfrm>
          <a:prstGeom prst="roundRect">
            <a:avLst>
              <a:gd name="adj" fmla="val 31250"/>
            </a:avLst>
          </a:prstGeom>
          <a:solidFill>
            <a:srgbClr val="FF3CAC">
              <a:alpha val="15000"/>
            </a:srgbClr>
          </a:solidFill>
          <a:ln w="6350">
            <a:solidFill>
              <a:srgbClr val="FF3CAC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3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3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본부 — PDCA 이터레이터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 단계: 자동 개선 루프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29260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36576" cy="2926080"/>
          </a:xfrm>
          <a:prstGeom prst="rect">
            <a:avLst/>
          </a:prstGeom>
          <a:solidFill>
            <a:srgbClr val="FF3CA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Rate &lt; 90% → 자동 개선 실행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0" cy="274320"/>
          </a:xfrm>
          <a:prstGeom prst="ellipse">
            <a:avLst/>
          </a:prstGeom>
          <a:solidFill>
            <a:srgbClr val="FF3CA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1회차 개선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→ 82%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2331720"/>
            <a:ext cx="5486400" cy="731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2331720"/>
            <a:ext cx="4498848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2788920"/>
            <a:ext cx="274320" cy="274320"/>
          </a:xfrm>
          <a:prstGeom prst="ellipse">
            <a:avLst/>
          </a:prstGeom>
          <a:solidFill>
            <a:srgbClr val="FF3CA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2회차 개선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→ 88%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3108960"/>
            <a:ext cx="5486400" cy="731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3108960"/>
            <a:ext cx="482803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3566160"/>
            <a:ext cx="274320" cy="274320"/>
          </a:xfrm>
          <a:prstGeom prst="ellipse">
            <a:avLst/>
          </a:prstGeom>
          <a:solidFill>
            <a:srgbClr val="FF3CA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3회차 개선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→ 91% 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3886200"/>
            <a:ext cx="5486400" cy="731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71600" y="3886200"/>
            <a:ext cx="4992624" cy="7315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00E5C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664208" cy="292608"/>
          </a:xfrm>
          <a:prstGeom prst="roundRect">
            <a:avLst>
              <a:gd name="adj" fmla="val 31250"/>
            </a:avLst>
          </a:prstGeom>
          <a:solidFill>
            <a:srgbClr val="00E5CC">
              <a:alpha val="15000"/>
            </a:srgbClr>
          </a:solidFill>
          <a:ln w="6350">
            <a:solidFill>
              <a:srgbClr val="00E5CC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4장 — 슬래시 명령어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상태 관리 명령어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06040" cy="22860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260604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691640"/>
            <a:ext cx="2057400" cy="457200"/>
          </a:xfrm>
          <a:prstGeom prst="rect">
            <a:avLst/>
          </a:prstGeom>
          <a:solidFill>
            <a:srgbClr val="000000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91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 상태 확인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시즌, PDCA 단계, 진행률, 완료/진행중 산출물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606040" cy="22860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417320"/>
            <a:ext cx="26060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1691640"/>
            <a:ext cx="2057400" cy="457200"/>
          </a:xfrm>
          <a:prstGeom prst="rect">
            <a:avLst/>
          </a:prstGeom>
          <a:solidFill>
            <a:srgbClr val="000000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1691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다음 단계 전환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 자동 실행 → PASS 시 다음 단계로 전환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606040" cy="22860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417320"/>
            <a:ext cx="260604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1691640"/>
            <a:ext cx="2057400" cy="457200"/>
          </a:xfrm>
          <a:prstGeom prst="rect">
            <a:avLst/>
          </a:prstGeom>
          <a:solidFill>
            <a:srgbClr val="000000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1691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/team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현황 조회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에이전시, 20명 전문가 현황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664208" cy="292608"/>
          </a:xfrm>
          <a:prstGeom prst="roundRect">
            <a:avLst>
              <a:gd name="adj" fmla="val 31250"/>
            </a:avLst>
          </a:prstGeom>
          <a:solidFill>
            <a:srgbClr val="00E5CC">
              <a:alpha val="15000"/>
            </a:srgbClr>
          </a:solidFill>
          <a:ln w="6350">
            <a:solidFill>
              <a:srgbClr val="00E5CC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4장 — 슬래시 명령어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산출물 생성 명령어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1430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93192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/brief [유형]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문서 작성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trend-brief, moodboard, techpack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11430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393192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/deck [유형]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프레젠테이션 PPTX 생성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trend, lookbook, buyer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931920" cy="11430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88920"/>
            <a:ext cx="393192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/pdf [유형]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보고서 생성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season-book, techpack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788920"/>
            <a:ext cx="3931920" cy="11430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88920"/>
            <a:ext cx="393192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/sheet [유형]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시트 생성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line-sheet, otb, kpi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 </a:t>
            </a:r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워드 문서    </a:t>
            </a:r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/review </a:t>
            </a:r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검수    </a:t>
            </a:r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/export </a:t>
            </a:r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정리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859536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15000"/>
            </a:srgbClr>
          </a:solidFill>
          <a:ln w="635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현황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6개 에이전시 · 20명의 AI 전문가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06040" cy="13716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260604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전략기획실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리서처 · 브랜드 전략가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수석 MD · 컬렉션 플래너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606040" cy="13716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417320"/>
            <a:ext cx="26060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크리에이티브 스튜디오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크리에이티브 디렉터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패션 디자이너 · 아트 디렉터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06040" cy="13716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17320"/>
            <a:ext cx="260604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프로덕트 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프로덕션 매니저 x3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(테크팩 · 원가 · QR)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2606040" cy="13716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017520"/>
            <a:ext cx="2606040" cy="27432"/>
          </a:xfrm>
          <a:prstGeom prst="rect">
            <a:avLst/>
          </a:prstGeom>
          <a:solidFill>
            <a:srgbClr val="FF3CA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C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📢 마케팅 쇼룸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 디렉터 · 콘텐츠 디렉터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패션 에디터 · 소셜 전략가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3017520"/>
            <a:ext cx="2606040" cy="13716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3017520"/>
            <a:ext cx="260604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데이터 인텔리전스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트렌드 애널리스트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아키텍트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3017520"/>
            <a:ext cx="2606040" cy="13716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017520"/>
            <a:ext cx="2606040" cy="27432"/>
          </a:xfrm>
          <a:prstGeom prst="rect">
            <a:avLst/>
          </a:prstGeom>
          <a:solidFill>
            <a:srgbClr val="A0A0C0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QC 본부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검증관 · 갭 디텍터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 제너레이터 · 이터레이터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664208" cy="292608"/>
          </a:xfrm>
          <a:prstGeom prst="roundRect">
            <a:avLst>
              <a:gd name="adj" fmla="val 31250"/>
            </a:avLst>
          </a:prstGeom>
          <a:solidFill>
            <a:srgbClr val="FF3CAC">
              <a:alpha val="15000"/>
            </a:srgbClr>
          </a:solidFill>
          <a:ln w="6350">
            <a:solidFill>
              <a:srgbClr val="FF3CAC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3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5장 — 실전 시나리오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시나리오 1: 26SS 시즌 기획 전체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280160"/>
            <a:ext cx="457200" cy="36576"/>
          </a:xfrm>
          <a:prstGeom prst="rect">
            <a:avLst/>
          </a:prstGeom>
          <a:solidFill>
            <a:srgbClr val="FF3CAC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1280160"/>
            <a:ext cx="4572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581912"/>
            <a:ext cx="274320" cy="274320"/>
          </a:xfrm>
          <a:prstGeom prst="ellipse">
            <a:avLst/>
          </a:prstGeom>
          <a:solidFill>
            <a:srgbClr val="FF3CA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5544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/status 로 현재 상태 확인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130552"/>
            <a:ext cx="274320" cy="274320"/>
          </a:xfrm>
          <a:prstGeom prst="ellipse">
            <a:avLst/>
          </a:prstGeom>
          <a:solidFill>
            <a:srgbClr val="FF3CA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1031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"26SS 트렌드 분석해줘" → plan_trend-brief.md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679192"/>
            <a:ext cx="274320" cy="274320"/>
          </a:xfrm>
          <a:prstGeom prst="ellipse">
            <a:avLst/>
          </a:prstGeom>
          <a:solidFill>
            <a:srgbClr val="FF3CA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2651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"26SS 시즌 테마 제안해줘" → plan_brand-strategy.md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27832"/>
            <a:ext cx="274320" cy="274320"/>
          </a:xfrm>
          <a:prstGeom prst="ellipse">
            <a:avLst/>
          </a:prstGeom>
          <a:solidFill>
            <a:srgbClr val="FF3CA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3200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"카테고리 믹스랑 챔피언 상품 전략 짜줘" → plan_md-plan.md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76472"/>
            <a:ext cx="274320" cy="274320"/>
          </a:xfrm>
          <a:prstGeom prst="ellipse">
            <a:avLst/>
          </a:prstGeom>
          <a:solidFill>
            <a:srgbClr val="FF3CA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3749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"라인시트 만들어줘" → plan_line-sheet.xlsx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325112"/>
            <a:ext cx="274320" cy="274320"/>
          </a:xfrm>
          <a:prstGeom prst="ellipse">
            <a:avLst/>
          </a:prstGeom>
          <a:solidFill>
            <a:srgbClr val="FF3CA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4297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"Plan 단계 검수해줘" → QG1 PASS → /next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30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664208" cy="292608"/>
          </a:xfrm>
          <a:prstGeom prst="roundRect">
            <a:avLst>
              <a:gd name="adj" fmla="val 31250"/>
            </a:avLst>
          </a:prstGeom>
          <a:solidFill>
            <a:srgbClr val="FF3CAC">
              <a:alpha val="15000"/>
            </a:srgbClr>
          </a:solidFill>
          <a:ln w="6350">
            <a:solidFill>
              <a:srgbClr val="FF3CAC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3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5장 — 실전 시나리오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시나리오 2: 히트상품 개발 → 런칭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20116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84048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단계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무드보드 → design_moodboard.md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디자인 스펙 → design_spec.md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비주얼 생성 → design_visual/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원가 검증 → design_costing.md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840480" cy="20116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384048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단계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테크팩 → do_techpack.md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IMC 전략 → do_imc-strategy.md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PDP 카피 → do_pdp-copy.md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소셜 전략 → do_social-strategy.md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3657600"/>
            <a:ext cx="5486400" cy="5486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0" y="3657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QG2 PASS → QG3 PASS → 런칭 준비 완료! 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FF3CA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664208" cy="292608"/>
          </a:xfrm>
          <a:prstGeom prst="roundRect">
            <a:avLst>
              <a:gd name="adj" fmla="val 31250"/>
            </a:avLst>
          </a:prstGeom>
          <a:solidFill>
            <a:srgbClr val="FF3CAC">
              <a:alpha val="15000"/>
            </a:srgbClr>
          </a:solidFill>
          <a:ln w="6350">
            <a:solidFill>
              <a:srgbClr val="FF3CAC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3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5장 — 실전 시나리오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시나리오 3: 실패 분석 &amp; 개선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36576" cy="1463040"/>
          </a:xfrm>
          <a:prstGeom prst="rect">
            <a:avLst/>
          </a:prstGeom>
          <a:solidFill>
            <a:srgbClr val="FF3C5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C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실패 요인: 오버핏 후디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트렌드 부합성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Oversized→Slim Fit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"너무 커서 입기 애매"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컬러 비충족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Pastel 트렌드 vs Black만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"색상이 너무 진해"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가격 민감도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49K vs 우리 69K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"비싸다"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8046720" cy="10058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63240"/>
            <a:ext cx="36576" cy="100584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546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개선안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474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실루엣 조정 (10cm→5cm 오버핏) · Pastel 컬러 추가 (Lilac, Mint) · 가격 조정 (69K→59K)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261872" cy="292608"/>
          </a:xfrm>
          <a:prstGeom prst="roundRect">
            <a:avLst>
              <a:gd name="adj" fmla="val 31250"/>
            </a:avLst>
          </a:prstGeom>
          <a:solidFill>
            <a:srgbClr val="A0A0C0">
              <a:alpha val="15000"/>
            </a:srgbClr>
          </a:solidFill>
          <a:ln w="6350">
            <a:solidFill>
              <a:srgbClr val="A0A0C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6장 — FAQ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자주 묻는 질문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931920" cy="12344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393192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브랜드와 안 맞는 결과?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구체적인 프롬프트 사용.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"와키윌리의 Kitsch Street 감성으로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무드보드 만들어줘"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12344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393192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단계를 건너뛰고 싶어요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"강제 통과해줘"로 가능하지만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권장하지 않음. 빠진 부분 보완 필요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931920" cy="12344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80360"/>
            <a:ext cx="393192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산출물이 마음에 안 들어요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바로 수정 요청.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"여기 수정해줘: 컬러를 Blue로 바꿔"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3931920" cy="123444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80360"/>
            <a:ext cx="393192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QG에서 계속 FAIL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누락된 항목 확인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항목 생성 요청 → 재검수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60704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15000"/>
            </a:srgbClr>
          </a:solidFill>
          <a:ln w="635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퀵 레퍼런스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자주 쓰는 요청 TOP 20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29260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84048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기획 &amp; 디자인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"26SS 트렌드 분석해줘"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"이번 시즌 테마 제안해줘"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"카테고리 믹스 짜줘"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"라인시트 만들어줘"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"그래픽 티 무드보드 만들어줘"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"디자인 스펙 작성해줘"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"룩북 이미지 생성해줘"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840480" cy="29260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384048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생산 &amp; 마케팅 &amp; 분석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"원가 계산해줘"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"테크팩 만들어줘"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"IMC 전략 짜줘"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"인스타용 카피 써줘"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"인플루언서 매핑해줘"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"매출 분석해줘"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상품이 잘 팔렸어?"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30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0066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60704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15000"/>
            </a:srgbClr>
          </a:solidFill>
          <a:ln w="635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퀵 레퍼런스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슬래시 명령어 총정리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9319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확인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9319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/brief [유형]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문서 작성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9319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검수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9319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 전환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39319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현황 조회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874520"/>
            <a:ext cx="39319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정리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39319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/deck [유형]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프레젠테이션 생성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063240"/>
            <a:ext cx="39319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/pdf [유형]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보고서 생성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39319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/sheet [유형]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시트 생성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251960"/>
            <a:ext cx="3931920" cy="45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 [유형]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워드 문서 생성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58368" cy="292608"/>
          </a:xfrm>
          <a:prstGeom prst="roundRect">
            <a:avLst>
              <a:gd name="adj" fmla="val 31250"/>
            </a:avLst>
          </a:prstGeom>
          <a:solidFill>
            <a:srgbClr val="A0A0C0">
              <a:alpha val="15000"/>
            </a:srgbClr>
          </a:solidFill>
          <a:ln w="6350">
            <a:solidFill>
              <a:srgbClr val="A0A0C0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용어 사전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0972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26060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FPOF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PDCA Orchestration Framework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606040" cy="10972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17320"/>
            <a:ext cx="260604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→ Design → Do → Check → Act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606040" cy="10972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17320"/>
            <a:ext cx="2606040" cy="274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Gate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 전환 시 자동 품질 검증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2606040" cy="10972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788920"/>
            <a:ext cx="260604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vs 실행 정합도 (목표 90%+)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2788920"/>
            <a:ext cx="2606040" cy="10972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788920"/>
            <a:ext cx="2606040" cy="27432"/>
          </a:xfrm>
          <a:prstGeom prst="rect">
            <a:avLst/>
          </a:prstGeom>
          <a:solidFill>
            <a:srgbClr val="FF3CAC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3C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Open-to-Buy: 총 구매 가능 예산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788920"/>
            <a:ext cx="2606040" cy="109728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788920"/>
            <a:ext cx="2606040" cy="27432"/>
          </a:xfrm>
          <a:prstGeom prst="rect">
            <a:avLst/>
          </a:prstGeom>
          <a:solidFill>
            <a:srgbClr val="A0A0C0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Engineering: 품질 유지 비용 절감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30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와키윌리 FPOF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와 함께 성공적인 시즌을 보내세요!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2377440"/>
            <a:ext cx="60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4267200" y="2377440"/>
            <a:ext cx="609600" cy="36576"/>
          </a:xfrm>
          <a:prstGeom prst="rect">
            <a:avLst/>
          </a:prstGeom>
          <a:solidFill>
            <a:srgbClr val="FF3CAC"/>
          </a:solidFill>
          <a:ln/>
        </p:spPr>
      </p:sp>
      <p:sp>
        <p:nvSpPr>
          <p:cNvPr id="7" name="Shape 5"/>
          <p:cNvSpPr/>
          <p:nvPr/>
        </p:nvSpPr>
        <p:spPr>
          <a:xfrm>
            <a:off x="4876800" y="2377440"/>
            <a:ext cx="6096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743200"/>
            <a:ext cx="2286000" cy="13716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444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자연어로 말하기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평소 말하듯 AI에게 요청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2743200"/>
            <a:ext cx="2286000" cy="13716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9476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체계적 진행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PDCA 사이클로 관리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2286000" cy="1371600"/>
          </a:xfrm>
          <a:prstGeom prst="rect">
            <a:avLst/>
          </a:prstGeom>
          <a:solidFill>
            <a:srgbClr val="16162A"/>
          </a:solidFill>
          <a:ln w="381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550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품질 보장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검수와 갭 분석으로 완성도 확보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Wacky Willy Fashion House — Kitsch Street &amp; IP Universe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와키윌리 FPOF 사용 매뉴얼</dc:title>
  <dc:subject>PptxGenJS Presentation</dc:subject>
  <dc:creator>FPOF System</dc:creator>
  <cp:lastModifiedBy>FPOF System</cp:lastModifiedBy>
  <cp:revision>1</cp:revision>
  <dcterms:created xsi:type="dcterms:W3CDTF">2026-03-11T14:38:55Z</dcterms:created>
  <dcterms:modified xsi:type="dcterms:W3CDTF">2026-03-11T14:38:55Z</dcterms:modified>
</cp:coreProperties>
</file>